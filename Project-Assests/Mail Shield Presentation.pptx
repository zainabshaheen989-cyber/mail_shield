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8288000" cy="10287000"/>
  <p:notesSz cx="6858000" cy="9144000"/>
  <p:embeddedFontLst>
    <p:embeddedFont>
      <p:font typeface="Inter" panose="020B0604020202020204" charset="0"/>
      <p:regular r:id="rId8"/>
    </p:embeddedFont>
    <p:embeddedFont>
      <p:font typeface="Crimson Pro Bold" panose="020B0604020202020204" charset="0"/>
      <p:regular r:id="rId9"/>
    </p:embeddedFont>
    <p:embeddedFont>
      <p:font typeface="Crimson Pro" panose="020B0604020202020204" charset="0"/>
      <p:regular r:id="rId10"/>
    </p:embeddedFont>
    <p:embeddedFont>
      <p:font typeface="Merriweather" panose="020B0604020202020204" charset="0"/>
      <p:regular r:id="rId11"/>
    </p:embeddedFont>
    <p:embeddedFont>
      <p:font typeface="Calibri" panose="020F0502020204030204" pitchFamily="34" charset="0"/>
      <p:regular r:id="rId12"/>
      <p:bold r:id="rId13"/>
      <p:italic r:id="rId14"/>
      <p:boldItalic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0A9C2"/>
    <a:srgbClr val="6CE5E8"/>
    <a:srgbClr val="0F7FB5"/>
    <a:srgbClr val="042748"/>
    <a:srgbClr val="20A1B9"/>
    <a:srgbClr val="21ABC2"/>
    <a:srgbClr val="1186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>
        <p:scale>
          <a:sx n="40" d="100"/>
          <a:sy n="40" d="100"/>
        </p:scale>
        <p:origin x="1116" y="246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5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4.fntdata"/><Relationship Id="rId5" Type="http://schemas.openxmlformats.org/officeDocument/2006/relationships/slide" Target="slides/slide4.xml"/><Relationship Id="rId15" Type="http://schemas.openxmlformats.org/officeDocument/2006/relationships/font" Target="fonts/font8.fntdata"/><Relationship Id="rId10" Type="http://schemas.openxmlformats.org/officeDocument/2006/relationships/font" Target="fonts/font3.fntdata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font" Target="fonts/font2.fntdata"/><Relationship Id="rId14" Type="http://schemas.openxmlformats.org/officeDocument/2006/relationships/font" Target="fonts/font7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image" Target="../media/image4.svg"/><Relationship Id="rId7" Type="http://schemas.openxmlformats.org/officeDocument/2006/relationships/image" Target="../media/image2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.png"/><Relationship Id="rId5" Type="http://schemas.openxmlformats.org/officeDocument/2006/relationships/image" Target="../media/image8.sv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7" Type="http://schemas.openxmlformats.org/officeDocument/2006/relationships/image" Target="../media/image6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3.png"/><Relationship Id="rId5" Type="http://schemas.openxmlformats.org/officeDocument/2006/relationships/image" Target="../media/image4.sv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565" y="308610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>
                <a:moveTo>
                  <a:pt x="0" y="0"/>
                </a:moveTo>
                <a:lnTo>
                  <a:pt x="4705073" y="0"/>
                </a:lnTo>
                <a:lnTo>
                  <a:pt x="47050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398492" y="308610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8669" y="-713874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3881038" y="3467100"/>
            <a:ext cx="11054162" cy="207481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9648"/>
              </a:lnSpc>
            </a:pPr>
            <a:r>
              <a:rPr lang="en-US" sz="8771" b="1" dirty="0">
                <a:solidFill>
                  <a:srgbClr val="F8F9FA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MAIL SHIELD</a:t>
            </a:r>
          </a:p>
          <a:p>
            <a:pPr marL="0" lvl="0" indent="0" algn="l">
              <a:lnSpc>
                <a:spcPts val="6568"/>
              </a:lnSpc>
            </a:pPr>
            <a:r>
              <a:rPr lang="en-US" sz="5971" dirty="0">
                <a:solidFill>
                  <a:srgbClr val="F8F9FA"/>
                </a:solidFill>
                <a:latin typeface="Crimson Pro"/>
                <a:ea typeface="Crimson Pro"/>
                <a:cs typeface="Crimson Pro"/>
                <a:sym typeface="Crimson Pro"/>
              </a:rPr>
              <a:t>SPAM VS HAM EMAIL CLASSIFIER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466408" y="6460711"/>
            <a:ext cx="6300873" cy="231654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4616"/>
              </a:lnSpc>
            </a:pP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Presented By: </a:t>
            </a:r>
          </a:p>
          <a:p>
            <a:pPr marL="0" lvl="0" indent="0" algn="l">
              <a:lnSpc>
                <a:spcPts val="4616"/>
              </a:lnSpc>
            </a:pP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Zainab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Shaheen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(8583) </a:t>
            </a:r>
          </a:p>
          <a:p>
            <a:pPr marL="0" lvl="0" indent="0" algn="l">
              <a:lnSpc>
                <a:spcPts val="4616"/>
              </a:lnSpc>
            </a:pP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Tooba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Ilyas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(8584) </a:t>
            </a:r>
          </a:p>
          <a:p>
            <a:pPr marL="0" lvl="0" indent="0" algn="l">
              <a:lnSpc>
                <a:spcPts val="4616"/>
              </a:lnSpc>
            </a:pP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Mahnoor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</a:t>
            </a:r>
            <a:r>
              <a:rPr lang="en-US" sz="3297" dirty="0" err="1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Safdar</a:t>
            </a:r>
            <a:r>
              <a:rPr lang="en-US" sz="3297" dirty="0">
                <a:solidFill>
                  <a:srgbClr val="F8F9FA"/>
                </a:solidFill>
                <a:latin typeface="Inter"/>
                <a:ea typeface="Inter"/>
                <a:cs typeface="Inter"/>
                <a:sym typeface="Inter"/>
              </a:rPr>
              <a:t> (8627) </a:t>
            </a:r>
          </a:p>
        </p:txBody>
      </p:sp>
      <p:sp>
        <p:nvSpPr>
          <p:cNvPr id="8" name="Freeform 8"/>
          <p:cNvSpPr/>
          <p:nvPr/>
        </p:nvSpPr>
        <p:spPr>
          <a:xfrm>
            <a:off x="10054064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0" y="0"/>
                </a:lnTo>
                <a:lnTo>
                  <a:pt x="1399980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8443486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1" y="0"/>
                </a:lnTo>
                <a:lnTo>
                  <a:pt x="1399981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6833956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0" y="0"/>
                </a:lnTo>
                <a:lnTo>
                  <a:pt x="1399980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13" name="Picture 12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00" y="983806"/>
            <a:ext cx="2124928" cy="2026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88669" y="-713874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42475" y="84445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37728" y="-22723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792074" y="2426059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0" y="0"/>
                </a:moveTo>
                <a:lnTo>
                  <a:pt x="1425855" y="0"/>
                </a:lnTo>
                <a:lnTo>
                  <a:pt x="1425855" y="1246975"/>
                </a:lnTo>
                <a:lnTo>
                  <a:pt x="0" y="124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767430" y="1709060"/>
            <a:ext cx="10806019" cy="223774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8600"/>
              </a:lnSpc>
            </a:pPr>
            <a:r>
              <a:rPr lang="en-US" sz="8600" b="1" dirty="0">
                <a:solidFill>
                  <a:srgbClr val="F8F9FA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THE INBOX IS UNDER ATTACK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685800" y="4000500"/>
            <a:ext cx="7924800" cy="250068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3600" b="1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The </a:t>
            </a:r>
            <a:r>
              <a:rPr lang="en-US" sz="3600" b="1" dirty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Problem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ts val="3919"/>
              </a:lnSpc>
            </a:pP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Suspicious email attacks have surged </a:t>
            </a:r>
            <a:r>
              <a:rPr lang="en-US" sz="2800" b="1" dirty="0">
                <a:solidFill>
                  <a:srgbClr val="20A1B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48% in the last year</a:t>
            </a: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, with attackers leveraging brand impersonation and URL shortening to bypass standard filters — undetected</a:t>
            </a:r>
            <a:r>
              <a:rPr lang="en-US" sz="28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.</a:t>
            </a:r>
            <a:endParaRPr lang="en-US" sz="2800" dirty="0"/>
          </a:p>
        </p:txBody>
      </p:sp>
      <p:sp>
        <p:nvSpPr>
          <p:cNvPr id="21" name="TextBox 9"/>
          <p:cNvSpPr txBox="1"/>
          <p:nvPr/>
        </p:nvSpPr>
        <p:spPr>
          <a:xfrm>
            <a:off x="685800" y="6653614"/>
            <a:ext cx="7924800" cy="2223686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3600" b="1" dirty="0" smtClean="0">
                <a:solidFill>
                  <a:srgbClr val="F5F0F0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The Solution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sz="2800" b="1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Secure </a:t>
            </a:r>
            <a:r>
              <a:rPr lang="en-US" sz="2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Mail Classifier </a:t>
            </a: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 a hybrid email classifier combining </a:t>
            </a:r>
            <a:r>
              <a:rPr lang="en-US" sz="2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Heuristic Analysis</a:t>
            </a: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(Source, Links, Brands) with </a:t>
            </a:r>
            <a:r>
              <a:rPr lang="en-US" sz="2800" b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Machine Learning</a:t>
            </a:r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(NLP) to deliver a definitive, explainable safety </a:t>
            </a:r>
            <a:r>
              <a:rPr lang="en-US" sz="28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score.</a:t>
            </a:r>
            <a:endParaRPr lang="en-US" sz="2800" dirty="0"/>
          </a:p>
        </p:txBody>
      </p:sp>
      <p:grpSp>
        <p:nvGrpSpPr>
          <p:cNvPr id="37" name="Group 36"/>
          <p:cNvGrpSpPr/>
          <p:nvPr/>
        </p:nvGrpSpPr>
        <p:grpSpPr>
          <a:xfrm>
            <a:off x="9170439" y="6252886"/>
            <a:ext cx="4118041" cy="2472014"/>
            <a:chOff x="12112559" y="5643286"/>
            <a:chExt cx="4118041" cy="2472014"/>
          </a:xfrm>
          <a:solidFill>
            <a:srgbClr val="20A9C2"/>
          </a:solidFill>
        </p:grpSpPr>
        <p:sp>
          <p:nvSpPr>
            <p:cNvPr id="32" name="Shape 11"/>
            <p:cNvSpPr/>
            <p:nvPr/>
          </p:nvSpPr>
          <p:spPr>
            <a:xfrm>
              <a:off x="12112559" y="5643286"/>
              <a:ext cx="4118041" cy="2472014"/>
            </a:xfrm>
            <a:prstGeom prst="roundRect">
              <a:avLst>
                <a:gd name="adj" fmla="val 4745"/>
              </a:avLst>
            </a:prstGeom>
            <a:grpFill/>
            <a:ln w="4763">
              <a:noFill/>
              <a:prstDash val="solid"/>
            </a:ln>
          </p:spPr>
        </p:sp>
        <p:sp>
          <p:nvSpPr>
            <p:cNvPr id="34" name="TextBox 9"/>
            <p:cNvSpPr txBox="1"/>
            <p:nvPr/>
          </p:nvSpPr>
          <p:spPr>
            <a:xfrm>
              <a:off x="12222369" y="5862928"/>
              <a:ext cx="3898419" cy="1846659"/>
            </a:xfrm>
            <a:prstGeom prst="rect">
              <a:avLst/>
            </a:prstGeom>
            <a:grpFill/>
          </p:spPr>
          <p:txBody>
            <a:bodyPr wrap="square" lIns="0" tIns="0" rIns="0" bIns="0" rtlCol="0" anchor="t">
              <a:spAutoFit/>
            </a:bodyPr>
            <a:lstStyle/>
            <a:p>
              <a:r>
                <a:rPr lang="en-US" sz="3600" dirty="0">
                  <a:solidFill>
                    <a:srgbClr val="E2E6E9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Real-Time Analysis</a:t>
              </a:r>
              <a:endParaRPr lang="en-US" sz="3600" dirty="0"/>
            </a:p>
            <a:p>
              <a:r>
                <a:rPr lang="en-US" sz="2800" dirty="0" smtClean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Instant </a:t>
              </a:r>
              <a:r>
                <a:rPr lang="en-US" sz="28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scanning of sender identity, email content, and </a:t>
              </a:r>
              <a:r>
                <a:rPr lang="en-US" sz="2800" dirty="0">
                  <a:solidFill>
                    <a:srgbClr val="E2E6E9"/>
                  </a:solidFill>
                  <a:latin typeface="Merriweather" pitchFamily="34" charset="0"/>
                  <a:ea typeface="Merriweather" pitchFamily="34" charset="-122"/>
                  <a:cs typeface="Merriweather" pitchFamily="34" charset="-120"/>
                </a:rPr>
                <a:t>embedded links.</a:t>
              </a:r>
              <a:endParaRPr lang="en-US" sz="2800" dirty="0"/>
            </a:p>
          </p:txBody>
        </p:sp>
      </p:grpSp>
      <p:sp>
        <p:nvSpPr>
          <p:cNvPr id="28" name="Shape 11"/>
          <p:cNvSpPr/>
          <p:nvPr/>
        </p:nvSpPr>
        <p:spPr>
          <a:xfrm>
            <a:off x="13539185" y="4208808"/>
            <a:ext cx="4073555" cy="2611092"/>
          </a:xfrm>
          <a:prstGeom prst="roundRect">
            <a:avLst>
              <a:gd name="adj" fmla="val 4745"/>
            </a:avLst>
          </a:prstGeom>
          <a:solidFill>
            <a:srgbClr val="20A9C2"/>
          </a:solidFill>
          <a:ln w="4763">
            <a:noFill/>
            <a:prstDash val="solid"/>
          </a:ln>
        </p:spPr>
      </p:sp>
      <p:sp>
        <p:nvSpPr>
          <p:cNvPr id="35" name="TextBox 9"/>
          <p:cNvSpPr txBox="1"/>
          <p:nvPr/>
        </p:nvSpPr>
        <p:spPr>
          <a:xfrm>
            <a:off x="13714322" y="4610100"/>
            <a:ext cx="3898419" cy="2133918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1550"/>
              </a:lnSpc>
            </a:pPr>
            <a:r>
              <a:rPr lang="en-US" sz="36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Hybrid </a:t>
            </a:r>
            <a:r>
              <a:rPr lang="en-US" sz="36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Engine</a:t>
            </a:r>
          </a:p>
          <a:p>
            <a:pPr>
              <a:lnSpc>
                <a:spcPts val="1550"/>
              </a:lnSpc>
            </a:pPr>
            <a:endParaRPr lang="en-US" sz="1000" dirty="0"/>
          </a:p>
          <a:p>
            <a:r>
              <a:rPr lang="en-US" sz="28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Hard-coded security rules paired with a trained Logistic Regression model.</a:t>
            </a:r>
            <a:endParaRPr lang="en-US" sz="2800" dirty="0"/>
          </a:p>
        </p:txBody>
      </p:sp>
      <p:sp>
        <p:nvSpPr>
          <p:cNvPr id="39" name="Freeform 6"/>
          <p:cNvSpPr/>
          <p:nvPr/>
        </p:nvSpPr>
        <p:spPr>
          <a:xfrm flipH="1">
            <a:off x="13714322" y="2524925"/>
            <a:ext cx="1605883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0" y="0"/>
                </a:moveTo>
                <a:lnTo>
                  <a:pt x="1425855" y="0"/>
                </a:lnTo>
                <a:lnTo>
                  <a:pt x="1425855" y="1246975"/>
                </a:lnTo>
                <a:lnTo>
                  <a:pt x="0" y="124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pic>
        <p:nvPicPr>
          <p:cNvPr id="40" name="Picture 39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00" y="1060006"/>
            <a:ext cx="2124928" cy="2026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24939" y="-713874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42475" y="84445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37728" y="-22723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4960867" y="1693950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0" y="0"/>
                </a:moveTo>
                <a:lnTo>
                  <a:pt x="1425855" y="0"/>
                </a:lnTo>
                <a:lnTo>
                  <a:pt x="1425855" y="1246975"/>
                </a:lnTo>
                <a:lnTo>
                  <a:pt x="0" y="124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2108497" y="1707109"/>
            <a:ext cx="1323109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1425855" y="0"/>
                </a:moveTo>
                <a:lnTo>
                  <a:pt x="0" y="0"/>
                </a:lnTo>
                <a:lnTo>
                  <a:pt x="0" y="1246975"/>
                </a:lnTo>
                <a:lnTo>
                  <a:pt x="1425855" y="1246975"/>
                </a:lnTo>
                <a:lnTo>
                  <a:pt x="1425855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4302702" y="1901547"/>
            <a:ext cx="10034645" cy="92333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ALGORITHM</a:t>
            </a:r>
            <a:endParaRPr lang="en-US" sz="6000" b="1" dirty="0"/>
          </a:p>
        </p:txBody>
      </p:sp>
      <p:grpSp>
        <p:nvGrpSpPr>
          <p:cNvPr id="49" name="Group 48"/>
          <p:cNvGrpSpPr/>
          <p:nvPr/>
        </p:nvGrpSpPr>
        <p:grpSpPr>
          <a:xfrm>
            <a:off x="1905000" y="3619500"/>
            <a:ext cx="4049018" cy="2438400"/>
            <a:chOff x="666750" y="3924300"/>
            <a:chExt cx="3888581" cy="2438400"/>
          </a:xfrm>
        </p:grpSpPr>
        <p:sp>
          <p:nvSpPr>
            <p:cNvPr id="13" name="Shape 3"/>
            <p:cNvSpPr/>
            <p:nvPr/>
          </p:nvSpPr>
          <p:spPr>
            <a:xfrm>
              <a:off x="666750" y="3924300"/>
              <a:ext cx="3888581" cy="227266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14" name="Shape 4"/>
            <p:cNvSpPr/>
            <p:nvPr/>
          </p:nvSpPr>
          <p:spPr>
            <a:xfrm>
              <a:off x="666750" y="3951165"/>
              <a:ext cx="3888581" cy="555509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15" name="Text 5"/>
            <p:cNvSpPr/>
            <p:nvPr/>
          </p:nvSpPr>
          <p:spPr>
            <a:xfrm>
              <a:off x="1960502" y="4061279"/>
              <a:ext cx="1751949" cy="36143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r>
                <a:rPr lang="en-US" sz="2800" b="1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01. INPUT</a:t>
              </a:r>
            </a:p>
          </p:txBody>
        </p:sp>
        <p:sp>
          <p:nvSpPr>
            <p:cNvPr id="16" name="Text 6"/>
            <p:cNvSpPr/>
            <p:nvPr/>
          </p:nvSpPr>
          <p:spPr>
            <a:xfrm>
              <a:off x="834184" y="4551243"/>
              <a:ext cx="1781905" cy="310249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r>
                <a:rPr lang="en-US" sz="2800" b="1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Data Intake</a:t>
              </a:r>
            </a:p>
          </p:txBody>
        </p:sp>
        <p:sp>
          <p:nvSpPr>
            <p:cNvPr id="17" name="Text 7"/>
            <p:cNvSpPr/>
            <p:nvPr/>
          </p:nvSpPr>
          <p:spPr>
            <a:xfrm>
              <a:off x="744779" y="5108814"/>
              <a:ext cx="3789752" cy="1253886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 smtClean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Email </a:t>
              </a:r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content is ingested, cleaned, and lowercased. Metadata like sender domain is extracted for analysis.</a:t>
              </a:r>
              <a:endParaRPr lang="en-US" sz="2000" dirty="0"/>
            </a:p>
          </p:txBody>
        </p:sp>
      </p:grpSp>
      <p:grpSp>
        <p:nvGrpSpPr>
          <p:cNvPr id="31" name="Group 30"/>
          <p:cNvGrpSpPr/>
          <p:nvPr/>
        </p:nvGrpSpPr>
        <p:grpSpPr>
          <a:xfrm>
            <a:off x="6953249" y="3792742"/>
            <a:ext cx="4057650" cy="2036558"/>
            <a:chOff x="666750" y="4355378"/>
            <a:chExt cx="4057650" cy="2036558"/>
          </a:xfrm>
        </p:grpSpPr>
        <p:sp>
          <p:nvSpPr>
            <p:cNvPr id="32" name="Shape 3"/>
            <p:cNvSpPr/>
            <p:nvPr/>
          </p:nvSpPr>
          <p:spPr>
            <a:xfrm>
              <a:off x="666750" y="4355378"/>
              <a:ext cx="4029968" cy="203655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33" name="Shape 4"/>
            <p:cNvSpPr/>
            <p:nvPr/>
          </p:nvSpPr>
          <p:spPr>
            <a:xfrm>
              <a:off x="666750" y="4381500"/>
              <a:ext cx="4057650" cy="540142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34" name="Text 5"/>
            <p:cNvSpPr/>
            <p:nvPr/>
          </p:nvSpPr>
          <p:spPr>
            <a:xfrm>
              <a:off x="1817835" y="4498741"/>
              <a:ext cx="1835546" cy="4453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2800" b="1" dirty="0">
                  <a:solidFill>
                    <a:srgbClr val="E2E6E9"/>
                  </a:solidFill>
                  <a:cs typeface="Merriweather" pitchFamily="34" charset="-120"/>
                </a:rPr>
                <a:t>02 SOURCE</a:t>
              </a:r>
              <a:endParaRPr lang="en-US" sz="2800" b="1" dirty="0"/>
            </a:p>
          </p:txBody>
        </p:sp>
        <p:sp>
          <p:nvSpPr>
            <p:cNvPr id="35" name="Text 6"/>
            <p:cNvSpPr/>
            <p:nvPr/>
          </p:nvSpPr>
          <p:spPr>
            <a:xfrm>
              <a:off x="823168" y="5146633"/>
              <a:ext cx="1717402" cy="301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2800" b="1" dirty="0">
                  <a:solidFill>
                    <a:srgbClr val="E2E6E9"/>
                  </a:solidFill>
                  <a:latin typeface="Times New Roman" panose="02020603050405020304" pitchFamily="18" charset="0"/>
                  <a:ea typeface="Merriweather" pitchFamily="34" charset="-122"/>
                  <a:cs typeface="Times New Roman" panose="02020603050405020304" pitchFamily="18" charset="0"/>
                </a:rPr>
                <a:t>Domain Check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36" name="Text 7"/>
            <p:cNvSpPr/>
            <p:nvPr/>
          </p:nvSpPr>
          <p:spPr>
            <a:xfrm>
              <a:off x="762000" y="5448300"/>
              <a:ext cx="3862814" cy="717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Validates sender against trusted registries. Flags mismatches between claimed brands and actual origin.</a:t>
              </a:r>
              <a:endParaRPr lang="en-US" sz="2000" dirty="0"/>
            </a:p>
          </p:txBody>
        </p:sp>
      </p:grpSp>
      <p:grpSp>
        <p:nvGrpSpPr>
          <p:cNvPr id="43" name="Group 42"/>
          <p:cNvGrpSpPr/>
          <p:nvPr/>
        </p:nvGrpSpPr>
        <p:grpSpPr>
          <a:xfrm>
            <a:off x="11906249" y="3792742"/>
            <a:ext cx="4057650" cy="2036558"/>
            <a:chOff x="666750" y="4355378"/>
            <a:chExt cx="4057650" cy="2036558"/>
          </a:xfrm>
        </p:grpSpPr>
        <p:sp>
          <p:nvSpPr>
            <p:cNvPr id="44" name="Shape 3"/>
            <p:cNvSpPr/>
            <p:nvPr/>
          </p:nvSpPr>
          <p:spPr>
            <a:xfrm>
              <a:off x="666750" y="4355378"/>
              <a:ext cx="4029968" cy="203655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45" name="Shape 4"/>
            <p:cNvSpPr/>
            <p:nvPr/>
          </p:nvSpPr>
          <p:spPr>
            <a:xfrm>
              <a:off x="666750" y="4381500"/>
              <a:ext cx="4057650" cy="540142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46" name="Text 5"/>
            <p:cNvSpPr/>
            <p:nvPr/>
          </p:nvSpPr>
          <p:spPr>
            <a:xfrm>
              <a:off x="1817835" y="4498741"/>
              <a:ext cx="1835546" cy="4453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2800" b="1" dirty="0">
                  <a:solidFill>
                    <a:srgbClr val="E2E6E9"/>
                  </a:solidFill>
                  <a:cs typeface="Merriweather" pitchFamily="34" charset="-120"/>
                </a:rPr>
                <a:t>03 LINKS</a:t>
              </a:r>
              <a:endParaRPr lang="en-US" sz="2800" b="1" dirty="0"/>
            </a:p>
          </p:txBody>
        </p:sp>
        <p:sp>
          <p:nvSpPr>
            <p:cNvPr id="47" name="Text 6"/>
            <p:cNvSpPr/>
            <p:nvPr/>
          </p:nvSpPr>
          <p:spPr>
            <a:xfrm>
              <a:off x="823168" y="5146633"/>
              <a:ext cx="1717402" cy="301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2800" b="1" dirty="0">
                  <a:solidFill>
                    <a:srgbClr val="E2E6E9"/>
                  </a:solidFill>
                  <a:latin typeface="Times New Roman" panose="02020603050405020304" pitchFamily="18" charset="0"/>
                  <a:ea typeface="Merriweather" pitchFamily="34" charset="-122"/>
                  <a:cs typeface="Times New Roman" panose="02020603050405020304" pitchFamily="18" charset="0"/>
                </a:rPr>
                <a:t>URL Inspection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48" name="Text 7"/>
            <p:cNvSpPr/>
            <p:nvPr/>
          </p:nvSpPr>
          <p:spPr>
            <a:xfrm>
              <a:off x="762000" y="5448300"/>
              <a:ext cx="3934718" cy="717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Regex-based extraction. Scores links based on SSL status, </a:t>
              </a:r>
              <a:r>
                <a:rPr lang="en-US" sz="2000" dirty="0" err="1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shorteners</a:t>
              </a:r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, and blacklisted domains.</a:t>
              </a:r>
              <a:endParaRPr lang="en-US" sz="2000" dirty="0"/>
            </a:p>
          </p:txBody>
        </p:sp>
      </p:grpSp>
      <p:grpSp>
        <p:nvGrpSpPr>
          <p:cNvPr id="50" name="Group 49"/>
          <p:cNvGrpSpPr/>
          <p:nvPr/>
        </p:nvGrpSpPr>
        <p:grpSpPr>
          <a:xfrm>
            <a:off x="1924049" y="6231142"/>
            <a:ext cx="4057650" cy="2036558"/>
            <a:chOff x="666750" y="4355378"/>
            <a:chExt cx="4057650" cy="2036558"/>
          </a:xfrm>
        </p:grpSpPr>
        <p:sp>
          <p:nvSpPr>
            <p:cNvPr id="51" name="Shape 3"/>
            <p:cNvSpPr/>
            <p:nvPr/>
          </p:nvSpPr>
          <p:spPr>
            <a:xfrm>
              <a:off x="666750" y="4355378"/>
              <a:ext cx="4029968" cy="203655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52" name="Shape 4"/>
            <p:cNvSpPr/>
            <p:nvPr/>
          </p:nvSpPr>
          <p:spPr>
            <a:xfrm>
              <a:off x="666750" y="4381500"/>
              <a:ext cx="4057650" cy="540142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53" name="Text 5"/>
            <p:cNvSpPr/>
            <p:nvPr/>
          </p:nvSpPr>
          <p:spPr>
            <a:xfrm>
              <a:off x="1817835" y="4498741"/>
              <a:ext cx="1835546" cy="4453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2800" b="1" dirty="0">
                  <a:solidFill>
                    <a:srgbClr val="E2E6E9"/>
                  </a:solidFill>
                  <a:cs typeface="Merriweather" pitchFamily="34" charset="-120"/>
                </a:rPr>
                <a:t>04 NLP</a:t>
              </a:r>
              <a:endParaRPr lang="en-US" sz="2800" b="1" dirty="0"/>
            </a:p>
          </p:txBody>
        </p:sp>
        <p:sp>
          <p:nvSpPr>
            <p:cNvPr id="54" name="Text 6"/>
            <p:cNvSpPr/>
            <p:nvPr/>
          </p:nvSpPr>
          <p:spPr>
            <a:xfrm>
              <a:off x="823168" y="5146633"/>
              <a:ext cx="1717402" cy="301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2800" b="1" dirty="0">
                  <a:solidFill>
                    <a:srgbClr val="E2E6E9"/>
                  </a:solidFill>
                  <a:latin typeface="Times New Roman" panose="02020603050405020304" pitchFamily="18" charset="0"/>
                  <a:ea typeface="Merriweather" pitchFamily="34" charset="-122"/>
                  <a:cs typeface="Times New Roman" panose="02020603050405020304" pitchFamily="18" charset="0"/>
                </a:rPr>
                <a:t>Text Analysis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55" name="Text 7"/>
            <p:cNvSpPr/>
            <p:nvPr/>
          </p:nvSpPr>
          <p:spPr>
            <a:xfrm>
              <a:off x="762000" y="5448300"/>
              <a:ext cx="3934718" cy="717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Scans for urgency patterns (e.g. "Verify OTP") and promotional signals using advanced regex matching.</a:t>
              </a:r>
              <a:endParaRPr lang="en-US" sz="2000" dirty="0"/>
            </a:p>
          </p:txBody>
        </p:sp>
      </p:grpSp>
      <p:grpSp>
        <p:nvGrpSpPr>
          <p:cNvPr id="56" name="Group 55"/>
          <p:cNvGrpSpPr/>
          <p:nvPr/>
        </p:nvGrpSpPr>
        <p:grpSpPr>
          <a:xfrm>
            <a:off x="6877049" y="6189845"/>
            <a:ext cx="4057650" cy="2036558"/>
            <a:chOff x="666750" y="4355378"/>
            <a:chExt cx="4057650" cy="2036558"/>
          </a:xfrm>
        </p:grpSpPr>
        <p:sp>
          <p:nvSpPr>
            <p:cNvPr id="57" name="Shape 3"/>
            <p:cNvSpPr/>
            <p:nvPr/>
          </p:nvSpPr>
          <p:spPr>
            <a:xfrm>
              <a:off x="666750" y="4355378"/>
              <a:ext cx="4029968" cy="203655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58" name="Shape 4"/>
            <p:cNvSpPr/>
            <p:nvPr/>
          </p:nvSpPr>
          <p:spPr>
            <a:xfrm>
              <a:off x="666750" y="4381500"/>
              <a:ext cx="4057650" cy="540142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59" name="Text 5"/>
            <p:cNvSpPr/>
            <p:nvPr/>
          </p:nvSpPr>
          <p:spPr>
            <a:xfrm>
              <a:off x="1817835" y="4498741"/>
              <a:ext cx="1835546" cy="4453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2800" b="1" dirty="0">
                  <a:solidFill>
                    <a:srgbClr val="E2E6E9"/>
                  </a:solidFill>
                  <a:cs typeface="Merriweather" pitchFamily="34" charset="-120"/>
                </a:rPr>
                <a:t>05 AI/ML</a:t>
              </a:r>
              <a:endParaRPr lang="en-US" sz="2800" b="1" dirty="0"/>
            </a:p>
          </p:txBody>
        </p:sp>
        <p:sp>
          <p:nvSpPr>
            <p:cNvPr id="60" name="Text 6"/>
            <p:cNvSpPr/>
            <p:nvPr/>
          </p:nvSpPr>
          <p:spPr>
            <a:xfrm>
              <a:off x="823168" y="5146633"/>
              <a:ext cx="1717402" cy="301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2800" b="1" dirty="0">
                  <a:solidFill>
                    <a:srgbClr val="E2E6E9"/>
                  </a:solidFill>
                  <a:latin typeface="Times New Roman" panose="02020603050405020304" pitchFamily="18" charset="0"/>
                  <a:ea typeface="Merriweather" pitchFamily="34" charset="-122"/>
                  <a:cs typeface="Times New Roman" panose="02020603050405020304" pitchFamily="18" charset="0"/>
                </a:rPr>
                <a:t>ML Inference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1" name="Text 7"/>
            <p:cNvSpPr/>
            <p:nvPr/>
          </p:nvSpPr>
          <p:spPr>
            <a:xfrm>
              <a:off x="762000" y="5448300"/>
              <a:ext cx="3934718" cy="717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A Logistic Regression model predicts the "Spam" probability based on deep linguistic features.</a:t>
              </a:r>
              <a:endParaRPr lang="en-US" sz="2000" dirty="0"/>
            </a:p>
          </p:txBody>
        </p:sp>
      </p:grpSp>
      <p:grpSp>
        <p:nvGrpSpPr>
          <p:cNvPr id="68" name="Group 67"/>
          <p:cNvGrpSpPr/>
          <p:nvPr/>
        </p:nvGrpSpPr>
        <p:grpSpPr>
          <a:xfrm>
            <a:off x="11830049" y="6134100"/>
            <a:ext cx="4057650" cy="2063742"/>
            <a:chOff x="11830049" y="6134100"/>
            <a:chExt cx="4057650" cy="2063742"/>
          </a:xfrm>
        </p:grpSpPr>
        <p:sp>
          <p:nvSpPr>
            <p:cNvPr id="63" name="Shape 3"/>
            <p:cNvSpPr/>
            <p:nvPr/>
          </p:nvSpPr>
          <p:spPr>
            <a:xfrm>
              <a:off x="11830049" y="6161284"/>
              <a:ext cx="4029968" cy="2036558"/>
            </a:xfrm>
            <a:prstGeom prst="roundRect">
              <a:avLst>
                <a:gd name="adj" fmla="val 4055"/>
              </a:avLst>
            </a:prstGeom>
            <a:solidFill>
              <a:srgbClr val="09151A">
                <a:alpha val="95000"/>
              </a:srgbClr>
            </a:solidFill>
            <a:ln w="19050">
              <a:solidFill>
                <a:srgbClr val="20A1B9"/>
              </a:solidFill>
              <a:prstDash val="solid"/>
            </a:ln>
          </p:spPr>
        </p:sp>
        <p:sp>
          <p:nvSpPr>
            <p:cNvPr id="64" name="Shape 4"/>
            <p:cNvSpPr/>
            <p:nvPr/>
          </p:nvSpPr>
          <p:spPr>
            <a:xfrm>
              <a:off x="11830049" y="6134100"/>
              <a:ext cx="4057650" cy="540142"/>
            </a:xfrm>
            <a:prstGeom prst="roundRect">
              <a:avLst>
                <a:gd name="adj" fmla="val 8454"/>
              </a:avLst>
            </a:prstGeom>
            <a:solidFill>
              <a:srgbClr val="21ABC2"/>
            </a:solidFill>
            <a:ln/>
          </p:spPr>
        </p:sp>
        <p:sp>
          <p:nvSpPr>
            <p:cNvPr id="65" name="Text 5"/>
            <p:cNvSpPr/>
            <p:nvPr/>
          </p:nvSpPr>
          <p:spPr>
            <a:xfrm>
              <a:off x="12981134" y="6304647"/>
              <a:ext cx="1835546" cy="445395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ctr"/>
            <a:lstStyle/>
            <a:p>
              <a:pPr algn="ctr">
                <a:lnSpc>
                  <a:spcPts val="1600"/>
                </a:lnSpc>
              </a:pPr>
              <a:r>
                <a:rPr lang="en-US" sz="2800" b="1" dirty="0">
                  <a:solidFill>
                    <a:srgbClr val="E2E6E9"/>
                  </a:solidFill>
                  <a:cs typeface="Merriweather" pitchFamily="34" charset="-120"/>
                </a:rPr>
                <a:t>06 FUSION</a:t>
              </a:r>
              <a:endParaRPr lang="en-US" sz="2800" b="1" dirty="0"/>
            </a:p>
          </p:txBody>
        </p:sp>
        <p:sp>
          <p:nvSpPr>
            <p:cNvPr id="66" name="Text 6"/>
            <p:cNvSpPr/>
            <p:nvPr/>
          </p:nvSpPr>
          <p:spPr>
            <a:xfrm>
              <a:off x="11986467" y="6952539"/>
              <a:ext cx="1717402" cy="301667"/>
            </a:xfrm>
            <a:prstGeom prst="rect">
              <a:avLst/>
            </a:prstGeom>
            <a:noFill/>
            <a:ln/>
          </p:spPr>
          <p:txBody>
            <a:bodyPr wrap="none" lIns="0" tIns="0" rIns="0" bIns="0" rtlCol="0" anchor="t"/>
            <a:lstStyle/>
            <a:p>
              <a:pPr>
                <a:lnSpc>
                  <a:spcPts val="1650"/>
                </a:lnSpc>
              </a:pPr>
              <a:r>
                <a:rPr lang="en-US" sz="2800" b="1" dirty="0">
                  <a:solidFill>
                    <a:srgbClr val="E2E6E9"/>
                  </a:solidFill>
                  <a:latin typeface="Times New Roman" panose="02020603050405020304" pitchFamily="18" charset="0"/>
                  <a:ea typeface="Merriweather" pitchFamily="34" charset="-122"/>
                  <a:cs typeface="Times New Roman" panose="02020603050405020304" pitchFamily="18" charset="0"/>
                </a:rPr>
                <a:t>Final Verdict</a:t>
              </a:r>
              <a:endPara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67" name="Text 7"/>
            <p:cNvSpPr/>
            <p:nvPr/>
          </p:nvSpPr>
          <p:spPr>
            <a:xfrm>
              <a:off x="11925299" y="7254206"/>
              <a:ext cx="3934718" cy="717884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t"/>
            <a:lstStyle/>
            <a:p>
              <a:r>
                <a:rPr lang="en-US" sz="2000" dirty="0">
                  <a:solidFill>
                    <a:srgbClr val="E2E6E9"/>
                  </a:solidFill>
                  <a:ea typeface="Merriweather" pitchFamily="34" charset="-122"/>
                  <a:cs typeface="Merriweather" pitchFamily="34" charset="-120"/>
                </a:rPr>
                <a:t>All layers are fused via a weighted scoring engine to deliver a Safe, Promo, or Phishing result.</a:t>
              </a:r>
              <a:endParaRPr lang="en-US" sz="2000" dirty="0"/>
            </a:p>
          </p:txBody>
        </p:sp>
      </p:grpSp>
      <p:pic>
        <p:nvPicPr>
          <p:cNvPr id="69" name="Picture 68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00" y="983806"/>
            <a:ext cx="2124928" cy="2026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88669" y="-72390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42475" y="84445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37728" y="-22723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3298545" y="2933700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0" y="0"/>
                </a:moveTo>
                <a:lnTo>
                  <a:pt x="1425855" y="0"/>
                </a:lnTo>
                <a:lnTo>
                  <a:pt x="1425855" y="1246975"/>
                </a:lnTo>
                <a:lnTo>
                  <a:pt x="0" y="124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3258800" y="2982125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1425855" y="0"/>
                </a:moveTo>
                <a:lnTo>
                  <a:pt x="0" y="0"/>
                </a:lnTo>
                <a:lnTo>
                  <a:pt x="0" y="1246975"/>
                </a:lnTo>
                <a:lnTo>
                  <a:pt x="1425855" y="1246975"/>
                </a:lnTo>
                <a:lnTo>
                  <a:pt x="1425855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124200" y="2273975"/>
            <a:ext cx="11769293" cy="20313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600" b="1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WHO NEEDS  SECURE </a:t>
            </a:r>
          </a:p>
          <a:p>
            <a:pPr algn="ctr"/>
            <a:r>
              <a:rPr lang="en-US" sz="6600" b="1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MAIL SHIELD</a:t>
            </a:r>
            <a:endParaRPr lang="en-US" sz="6600" b="1" dirty="0"/>
          </a:p>
        </p:txBody>
      </p:sp>
      <p:sp>
        <p:nvSpPr>
          <p:cNvPr id="13" name="TextBox 12"/>
          <p:cNvSpPr txBox="1"/>
          <p:nvPr/>
        </p:nvSpPr>
        <p:spPr>
          <a:xfrm>
            <a:off x="716536" y="5108557"/>
            <a:ext cx="4038600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Small &amp; Medium Enterprises</a:t>
            </a:r>
          </a:p>
          <a:p>
            <a:pPr algn="just"/>
            <a:endParaRPr lang="en-US" sz="2400" b="1" dirty="0" smtClean="0">
              <a:solidFill>
                <a:srgbClr val="E2E6E9"/>
              </a:solidFill>
              <a:latin typeface="Times New Roman" panose="02020603050405020304" pitchFamily="18" charset="0"/>
              <a:ea typeface="Merriweather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Organizations without large IT security budgets needing an automated, easy-to-deploy first line of defense.</a:t>
            </a:r>
            <a:endParaRPr lang="en-US" sz="2400" dirty="0"/>
          </a:p>
        </p:txBody>
      </p:sp>
      <p:sp>
        <p:nvSpPr>
          <p:cNvPr id="14" name="TextBox 13"/>
          <p:cNvSpPr txBox="1"/>
          <p:nvPr/>
        </p:nvSpPr>
        <p:spPr>
          <a:xfrm>
            <a:off x="5069788" y="5106058"/>
            <a:ext cx="3921811" cy="32932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Remote Workforce Providers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solidFill>
                <a:srgbClr val="E2E6E9"/>
              </a:solidFill>
              <a:latin typeface="Times New Roman" panose="02020603050405020304" pitchFamily="18" charset="0"/>
              <a:ea typeface="Merriweather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Companies managing distributed teams highly susceptible to "urgent" Suspicious emails targeting off-network employees.</a:t>
            </a:r>
            <a:endParaRPr lang="en-US" sz="2400" dirty="0"/>
          </a:p>
        </p:txBody>
      </p:sp>
      <p:sp>
        <p:nvSpPr>
          <p:cNvPr id="15" name="TextBox 14"/>
          <p:cNvSpPr txBox="1"/>
          <p:nvPr/>
        </p:nvSpPr>
        <p:spPr>
          <a:xfrm>
            <a:off x="9448800" y="5138559"/>
            <a:ext cx="3635655" cy="36625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Email Service Providers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400" b="1" dirty="0" smtClean="0">
              <a:solidFill>
                <a:srgbClr val="E2E6E9"/>
              </a:solidFill>
              <a:latin typeface="Times New Roman" panose="02020603050405020304" pitchFamily="18" charset="0"/>
              <a:ea typeface="Merriweather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ESPs can integrate  Secure Mail Classifier as an API-based add-on to enhance existing junk filters with zero infrastructure overhaul.</a:t>
            </a:r>
            <a:endParaRPr lang="en-US" sz="2400" dirty="0"/>
          </a:p>
        </p:txBody>
      </p:sp>
      <p:sp>
        <p:nvSpPr>
          <p:cNvPr id="16" name="TextBox 15"/>
          <p:cNvSpPr txBox="1"/>
          <p:nvPr/>
        </p:nvSpPr>
        <p:spPr>
          <a:xfrm>
            <a:off x="13792200" y="5138559"/>
            <a:ext cx="3635655" cy="29238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Non-Tech Savvy Users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endParaRPr lang="en-US" sz="2400" b="1" dirty="0" smtClean="0">
              <a:solidFill>
                <a:srgbClr val="E2E6E9"/>
              </a:solidFill>
              <a:latin typeface="Times New Roman" panose="02020603050405020304" pitchFamily="18" charset="0"/>
              <a:ea typeface="Merriweather" pitchFamily="34" charset="-122"/>
              <a:cs typeface="Times New Roman" panose="02020603050405020304" pitchFamily="18" charset="0"/>
            </a:endParaRPr>
          </a:p>
          <a:p>
            <a:pPr algn="just"/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Individuals who need a plain-language verdict — </a:t>
            </a:r>
            <a:r>
              <a:rPr lang="en-US" sz="2400" b="1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Safe</a:t>
            </a:r>
            <a:r>
              <a:rPr lang="en-US" sz="2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or </a:t>
            </a:r>
            <a:r>
              <a:rPr lang="en-US" sz="2400" b="1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Dangerous</a:t>
            </a:r>
            <a:r>
              <a:rPr lang="en-US" sz="2400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</a:t>
            </a:r>
            <a:r>
              <a:rPr lang="en-US" sz="2400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— to prevent financial fraud.</a:t>
            </a:r>
            <a:endParaRPr lang="en-US" sz="2400" dirty="0"/>
          </a:p>
        </p:txBody>
      </p:sp>
      <p:pic>
        <p:nvPicPr>
          <p:cNvPr id="17" name="Picture 16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00" y="983806"/>
            <a:ext cx="2124928" cy="2026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Shape 1"/>
          <p:cNvSpPr/>
          <p:nvPr/>
        </p:nvSpPr>
        <p:spPr>
          <a:xfrm>
            <a:off x="755073" y="6448290"/>
            <a:ext cx="8035375" cy="1330247"/>
          </a:xfrm>
          <a:prstGeom prst="roundRect">
            <a:avLst>
              <a:gd name="adj" fmla="val 883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0F7FB5"/>
            </a:solidFill>
            <a:prstDash val="solid"/>
          </a:ln>
        </p:spPr>
      </p:sp>
      <p:sp>
        <p:nvSpPr>
          <p:cNvPr id="2" name="Freeform 2"/>
          <p:cNvSpPr/>
          <p:nvPr/>
        </p:nvSpPr>
        <p:spPr>
          <a:xfrm flipH="1" flipV="1">
            <a:off x="-88669" y="-713874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>
            <a:off x="15742475" y="84445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1637728" y="-2272390"/>
            <a:ext cx="4183253" cy="4114800"/>
          </a:xfrm>
          <a:custGeom>
            <a:avLst/>
            <a:gdLst/>
            <a:ahLst/>
            <a:cxnLst/>
            <a:rect l="l" t="t" r="r" b="b"/>
            <a:pathLst>
              <a:path w="4183253" h="4114800">
                <a:moveTo>
                  <a:pt x="0" y="0"/>
                </a:moveTo>
                <a:lnTo>
                  <a:pt x="4183253" y="0"/>
                </a:lnTo>
                <a:lnTo>
                  <a:pt x="418325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9999"/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2133600" y="2677325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0" y="0"/>
                </a:moveTo>
                <a:lnTo>
                  <a:pt x="1425855" y="0"/>
                </a:lnTo>
                <a:lnTo>
                  <a:pt x="1425855" y="1246975"/>
                </a:lnTo>
                <a:lnTo>
                  <a:pt x="0" y="1246975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7"/>
          <p:cNvSpPr/>
          <p:nvPr/>
        </p:nvSpPr>
        <p:spPr>
          <a:xfrm flipH="1">
            <a:off x="14554200" y="2677325"/>
            <a:ext cx="1425855" cy="1246975"/>
          </a:xfrm>
          <a:custGeom>
            <a:avLst/>
            <a:gdLst/>
            <a:ahLst/>
            <a:cxnLst/>
            <a:rect l="l" t="t" r="r" b="b"/>
            <a:pathLst>
              <a:path w="1425855" h="1246975">
                <a:moveTo>
                  <a:pt x="1425855" y="0"/>
                </a:moveTo>
                <a:lnTo>
                  <a:pt x="0" y="0"/>
                </a:lnTo>
                <a:lnTo>
                  <a:pt x="0" y="1246975"/>
                </a:lnTo>
                <a:lnTo>
                  <a:pt x="1425855" y="1246975"/>
                </a:lnTo>
                <a:lnTo>
                  <a:pt x="1425855" y="0"/>
                </a:lnTo>
                <a:close/>
              </a:path>
            </a:pathLst>
          </a:custGeom>
          <a:blipFill>
            <a:blip r:embed="rId6">
              <a:alphaModFix amt="9999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2129391" y="1929605"/>
            <a:ext cx="14029218" cy="18466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sz="6000" b="1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WHY ORGANIZATIONS WILL BUY  </a:t>
            </a:r>
          </a:p>
          <a:p>
            <a:pPr algn="ctr"/>
            <a:r>
              <a:rPr lang="en-US" sz="6000" b="1" dirty="0" smtClean="0">
                <a:solidFill>
                  <a:srgbClr val="F5F0F0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MAIL SHIELD</a:t>
            </a:r>
            <a:endParaRPr lang="en-US" sz="6000" b="1" dirty="0"/>
          </a:p>
        </p:txBody>
      </p:sp>
      <p:sp>
        <p:nvSpPr>
          <p:cNvPr id="25" name="Shape 1"/>
          <p:cNvSpPr/>
          <p:nvPr/>
        </p:nvSpPr>
        <p:spPr>
          <a:xfrm>
            <a:off x="775855" y="4881087"/>
            <a:ext cx="8035375" cy="1330247"/>
          </a:xfrm>
          <a:prstGeom prst="roundRect">
            <a:avLst>
              <a:gd name="adj" fmla="val 883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0F7FB5"/>
            </a:solidFill>
            <a:prstDash val="solid"/>
          </a:ln>
        </p:spPr>
      </p:sp>
      <p:sp>
        <p:nvSpPr>
          <p:cNvPr id="26" name="Shape 2"/>
          <p:cNvSpPr/>
          <p:nvPr/>
        </p:nvSpPr>
        <p:spPr>
          <a:xfrm>
            <a:off x="752610" y="4881087"/>
            <a:ext cx="92981" cy="1330247"/>
          </a:xfrm>
          <a:prstGeom prst="roundRect">
            <a:avLst>
              <a:gd name="adj" fmla="val 81488"/>
            </a:avLst>
          </a:prstGeom>
          <a:solidFill>
            <a:srgbClr val="6CE5E8"/>
          </a:solidFill>
          <a:ln/>
        </p:spPr>
      </p:sp>
      <p:sp>
        <p:nvSpPr>
          <p:cNvPr id="27" name="Text 3"/>
          <p:cNvSpPr/>
          <p:nvPr/>
        </p:nvSpPr>
        <p:spPr>
          <a:xfrm>
            <a:off x="1049229" y="5198779"/>
            <a:ext cx="2254918" cy="30604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Zero-Trust Security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 4"/>
          <p:cNvSpPr/>
          <p:nvPr/>
        </p:nvSpPr>
        <p:spPr>
          <a:xfrm>
            <a:off x="1049229" y="5474405"/>
            <a:ext cx="7558363" cy="52240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We don't just scan content — we verify the </a:t>
            </a:r>
            <a:r>
              <a:rPr lang="en-US" i="1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relationship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between the brand mentioned and the actual link provided. No other basic filter does this.</a:t>
            </a:r>
            <a:endParaRPr lang="en-US" dirty="0"/>
          </a:p>
        </p:txBody>
      </p:sp>
      <p:sp>
        <p:nvSpPr>
          <p:cNvPr id="32" name="Text 7"/>
          <p:cNvSpPr/>
          <p:nvPr/>
        </p:nvSpPr>
        <p:spPr>
          <a:xfrm>
            <a:off x="886430" y="6743294"/>
            <a:ext cx="2995845" cy="43793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4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High Accuracy, Low Friction</a:t>
            </a:r>
            <a:endParaRPr lang="en-US" sz="24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3" name="Text 8"/>
          <p:cNvSpPr/>
          <p:nvPr/>
        </p:nvSpPr>
        <p:spPr>
          <a:xfrm>
            <a:off x="921068" y="6989933"/>
            <a:ext cx="7686523" cy="57229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Logistic Regression trained on diverse datasets delivers a low false-positive rate, so legitimate "Ham" emails are never blocked.</a:t>
            </a:r>
            <a:endParaRPr lang="en-US" dirty="0"/>
          </a:p>
        </p:txBody>
      </p:sp>
      <p:sp>
        <p:nvSpPr>
          <p:cNvPr id="34" name="Shape 9"/>
          <p:cNvSpPr/>
          <p:nvPr/>
        </p:nvSpPr>
        <p:spPr>
          <a:xfrm>
            <a:off x="9372600" y="4881087"/>
            <a:ext cx="8049229" cy="1330247"/>
          </a:xfrm>
          <a:prstGeom prst="roundRect">
            <a:avLst>
              <a:gd name="adj" fmla="val 8836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0F7FB5"/>
            </a:solidFill>
            <a:prstDash val="solid"/>
          </a:ln>
        </p:spPr>
      </p:sp>
      <p:sp>
        <p:nvSpPr>
          <p:cNvPr id="35" name="Shape 10"/>
          <p:cNvSpPr/>
          <p:nvPr/>
        </p:nvSpPr>
        <p:spPr>
          <a:xfrm>
            <a:off x="9358313" y="4881087"/>
            <a:ext cx="78885" cy="1330247"/>
          </a:xfrm>
          <a:prstGeom prst="roundRect">
            <a:avLst>
              <a:gd name="adj" fmla="val 81488"/>
            </a:avLst>
          </a:prstGeom>
          <a:solidFill>
            <a:srgbClr val="6CE5E8"/>
          </a:solidFill>
          <a:ln/>
        </p:spPr>
      </p:sp>
      <p:sp>
        <p:nvSpPr>
          <p:cNvPr id="36" name="Text 11"/>
          <p:cNvSpPr/>
          <p:nvPr/>
        </p:nvSpPr>
        <p:spPr>
          <a:xfrm>
            <a:off x="9540628" y="5131713"/>
            <a:ext cx="3485125" cy="2969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b="1" dirty="0" smtClean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Average </a:t>
            </a:r>
            <a:r>
              <a:rPr lang="en-US" sz="28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Breach Cost — Offset It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Text 12"/>
          <p:cNvSpPr/>
          <p:nvPr/>
        </p:nvSpPr>
        <p:spPr>
          <a:xfrm>
            <a:off x="9540627" y="5515822"/>
            <a:ext cx="7457440" cy="5224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buNone/>
            </a:pPr>
            <a:r>
              <a:rPr lang="en-US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 Secure Mail Classifier 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is a low-cost preventative tool that stops the breach at the inbox, before it becomes a seven-figure incident.</a:t>
            </a:r>
            <a:endParaRPr lang="en-US" dirty="0"/>
          </a:p>
        </p:txBody>
      </p:sp>
      <p:sp>
        <p:nvSpPr>
          <p:cNvPr id="38" name="Shape 13"/>
          <p:cNvSpPr/>
          <p:nvPr/>
        </p:nvSpPr>
        <p:spPr>
          <a:xfrm>
            <a:off x="9386888" y="6543505"/>
            <a:ext cx="8034942" cy="1247322"/>
          </a:xfrm>
          <a:prstGeom prst="roundRect">
            <a:avLst>
              <a:gd name="adj" fmla="val 10995"/>
            </a:avLst>
          </a:prstGeom>
          <a:solidFill>
            <a:srgbClr val="09151A">
              <a:alpha val="95000"/>
            </a:srgbClr>
          </a:solidFill>
          <a:ln w="14288">
            <a:solidFill>
              <a:srgbClr val="0F7FB5"/>
            </a:solidFill>
            <a:prstDash val="solid"/>
          </a:ln>
        </p:spPr>
      </p:sp>
      <p:sp>
        <p:nvSpPr>
          <p:cNvPr id="39" name="Shape 14"/>
          <p:cNvSpPr/>
          <p:nvPr/>
        </p:nvSpPr>
        <p:spPr>
          <a:xfrm>
            <a:off x="9372601" y="6543505"/>
            <a:ext cx="92976" cy="1247322"/>
          </a:xfrm>
          <a:prstGeom prst="roundRect">
            <a:avLst>
              <a:gd name="adj" fmla="val 81488"/>
            </a:avLst>
          </a:prstGeom>
          <a:solidFill>
            <a:srgbClr val="6CE5E8"/>
          </a:solidFill>
          <a:ln/>
        </p:spPr>
      </p:sp>
      <p:sp>
        <p:nvSpPr>
          <p:cNvPr id="40" name="Text 15"/>
          <p:cNvSpPr/>
          <p:nvPr/>
        </p:nvSpPr>
        <p:spPr>
          <a:xfrm>
            <a:off x="9554914" y="6834798"/>
            <a:ext cx="3512639" cy="34642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350"/>
              </a:lnSpc>
              <a:buNone/>
            </a:pPr>
            <a:r>
              <a:rPr lang="en-US" sz="2800" b="1" dirty="0">
                <a:solidFill>
                  <a:srgbClr val="E2E6E9"/>
                </a:solidFill>
                <a:latin typeface="Times New Roman" panose="02020603050405020304" pitchFamily="18" charset="0"/>
                <a:ea typeface="Merriweather" pitchFamily="34" charset="-122"/>
                <a:cs typeface="Times New Roman" panose="02020603050405020304" pitchFamily="18" charset="0"/>
              </a:rPr>
              <a:t>Instant Integration via Flask API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1" name="Text 16"/>
          <p:cNvSpPr/>
          <p:nvPr/>
        </p:nvSpPr>
        <p:spPr>
          <a:xfrm>
            <a:off x="9554914" y="7096116"/>
            <a:ext cx="7557955" cy="54231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buNone/>
            </a:pP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Plugs into Slack, Outlook, and custom CRMs in minutes — </a:t>
            </a:r>
            <a:endParaRPr lang="en-US" dirty="0" smtClean="0">
              <a:solidFill>
                <a:srgbClr val="E2E6E9"/>
              </a:solidFill>
              <a:latin typeface="Merriweather" pitchFamily="34" charset="0"/>
              <a:ea typeface="Merriweather" pitchFamily="34" charset="-122"/>
              <a:cs typeface="Merriweather" pitchFamily="34" charset="-120"/>
            </a:endParaRPr>
          </a:p>
          <a:p>
            <a:pPr marL="0" indent="0" algn="l">
              <a:buNone/>
            </a:pPr>
            <a:r>
              <a:rPr lang="en-US" dirty="0" smtClean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no </a:t>
            </a:r>
            <a:r>
              <a:rPr lang="en-US" dirty="0">
                <a:solidFill>
                  <a:srgbClr val="E2E6E9"/>
                </a:solidFill>
                <a:latin typeface="Merriweather" pitchFamily="34" charset="0"/>
                <a:ea typeface="Merriweather" pitchFamily="34" charset="-122"/>
                <a:cs typeface="Merriweather" pitchFamily="34" charset="-120"/>
              </a:rPr>
              <a:t>rearchitecting required.</a:t>
            </a:r>
            <a:endParaRPr lang="en-US" dirty="0"/>
          </a:p>
        </p:txBody>
      </p:sp>
      <p:sp>
        <p:nvSpPr>
          <p:cNvPr id="45" name="Shape 2"/>
          <p:cNvSpPr/>
          <p:nvPr/>
        </p:nvSpPr>
        <p:spPr>
          <a:xfrm>
            <a:off x="734030" y="6460580"/>
            <a:ext cx="92981" cy="1330247"/>
          </a:xfrm>
          <a:prstGeom prst="roundRect">
            <a:avLst>
              <a:gd name="adj" fmla="val 81488"/>
            </a:avLst>
          </a:prstGeom>
          <a:solidFill>
            <a:srgbClr val="6CE5E8"/>
          </a:solidFill>
          <a:ln/>
        </p:spPr>
      </p:sp>
      <p:pic>
        <p:nvPicPr>
          <p:cNvPr id="46" name="Picture 45"/>
          <p:cNvPicPr>
            <a:picLocks noChangeAspect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25800" y="983806"/>
            <a:ext cx="2124928" cy="2026094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C2D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-815565" y="308610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>
                <a:moveTo>
                  <a:pt x="0" y="0"/>
                </a:moveTo>
                <a:lnTo>
                  <a:pt x="4705073" y="0"/>
                </a:lnTo>
                <a:lnTo>
                  <a:pt x="4705073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4398492" y="3086100"/>
            <a:ext cx="4705073" cy="4114800"/>
          </a:xfrm>
          <a:custGeom>
            <a:avLst/>
            <a:gdLst/>
            <a:ahLst/>
            <a:cxnLst/>
            <a:rect l="l" t="t" r="r" b="b"/>
            <a:pathLst>
              <a:path w="4705073" h="4114800">
                <a:moveTo>
                  <a:pt x="4705073" y="0"/>
                </a:moveTo>
                <a:lnTo>
                  <a:pt x="0" y="0"/>
                </a:lnTo>
                <a:lnTo>
                  <a:pt x="0" y="4114800"/>
                </a:lnTo>
                <a:lnTo>
                  <a:pt x="4705073" y="4114800"/>
                </a:lnTo>
                <a:lnTo>
                  <a:pt x="4705073" y="0"/>
                </a:lnTo>
                <a:close/>
              </a:path>
            </a:pathLst>
          </a:custGeom>
          <a:blipFill>
            <a:blip r:embed="rId2">
              <a:alphaModFix amt="9999"/>
              <a:extLst>
                <a:ext uri="{96DAC541-7B7A-43D3-8B79-37D633B846F1}">
                  <asvg:svgBlip xmlns=""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 flipV="1">
            <a:off x="-88669" y="-713874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18465338" y="2778314"/>
                </a:moveTo>
                <a:lnTo>
                  <a:pt x="0" y="2778314"/>
                </a:lnTo>
                <a:lnTo>
                  <a:pt x="0" y="0"/>
                </a:lnTo>
                <a:lnTo>
                  <a:pt x="18465338" y="0"/>
                </a:lnTo>
                <a:lnTo>
                  <a:pt x="18465338" y="2778314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-88669" y="8222560"/>
            <a:ext cx="18465339" cy="2778314"/>
          </a:xfrm>
          <a:custGeom>
            <a:avLst/>
            <a:gdLst/>
            <a:ahLst/>
            <a:cxnLst/>
            <a:rect l="l" t="t" r="r" b="b"/>
            <a:pathLst>
              <a:path w="18465339" h="2778314">
                <a:moveTo>
                  <a:pt x="0" y="0"/>
                </a:moveTo>
                <a:lnTo>
                  <a:pt x="18465338" y="0"/>
                </a:lnTo>
                <a:lnTo>
                  <a:pt x="18465338" y="2778314"/>
                </a:lnTo>
                <a:lnTo>
                  <a:pt x="0" y="2778314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=""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6" name="TextBox 6"/>
          <p:cNvSpPr txBox="1"/>
          <p:nvPr/>
        </p:nvSpPr>
        <p:spPr>
          <a:xfrm>
            <a:off x="4217929" y="4457874"/>
            <a:ext cx="9852142" cy="129522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ctr">
              <a:lnSpc>
                <a:spcPts val="10120"/>
              </a:lnSpc>
            </a:pPr>
            <a:r>
              <a:rPr lang="en-US" sz="9200" b="1" dirty="0">
                <a:solidFill>
                  <a:srgbClr val="F8F9FA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THANK YOU</a:t>
            </a:r>
            <a:r>
              <a:rPr lang="en-US" sz="9200" b="1" dirty="0" smtClean="0">
                <a:solidFill>
                  <a:srgbClr val="F8F9FA"/>
                </a:solidFill>
                <a:latin typeface="Crimson Pro Bold"/>
                <a:ea typeface="Crimson Pro Bold"/>
                <a:cs typeface="Crimson Pro Bold"/>
                <a:sym typeface="Crimson Pro Bold"/>
              </a:rPr>
              <a:t>!</a:t>
            </a:r>
            <a:endParaRPr lang="en-US" sz="9200" b="1" dirty="0">
              <a:solidFill>
                <a:srgbClr val="F8F9FA"/>
              </a:solidFill>
              <a:latin typeface="Crimson Pro Bold"/>
              <a:ea typeface="Crimson Pro Bold"/>
              <a:cs typeface="Crimson Pro Bold"/>
              <a:sym typeface="Crimson Pro Bold"/>
            </a:endParaRPr>
          </a:p>
        </p:txBody>
      </p:sp>
      <p:sp>
        <p:nvSpPr>
          <p:cNvPr id="7" name="Freeform 7"/>
          <p:cNvSpPr/>
          <p:nvPr/>
        </p:nvSpPr>
        <p:spPr>
          <a:xfrm>
            <a:off x="10054064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0" y="0"/>
                </a:lnTo>
                <a:lnTo>
                  <a:pt x="1399980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8" name="Freeform 8"/>
          <p:cNvSpPr/>
          <p:nvPr/>
        </p:nvSpPr>
        <p:spPr>
          <a:xfrm>
            <a:off x="8443486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1" y="0"/>
                </a:lnTo>
                <a:lnTo>
                  <a:pt x="1399981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  <p:sp>
        <p:nvSpPr>
          <p:cNvPr id="9" name="Freeform 9"/>
          <p:cNvSpPr/>
          <p:nvPr/>
        </p:nvSpPr>
        <p:spPr>
          <a:xfrm>
            <a:off x="6833956" y="7400695"/>
            <a:ext cx="1399980" cy="455630"/>
          </a:xfrm>
          <a:custGeom>
            <a:avLst/>
            <a:gdLst/>
            <a:ahLst/>
            <a:cxnLst/>
            <a:rect l="l" t="t" r="r" b="b"/>
            <a:pathLst>
              <a:path w="1399980" h="455630">
                <a:moveTo>
                  <a:pt x="0" y="0"/>
                </a:moveTo>
                <a:lnTo>
                  <a:pt x="1399980" y="0"/>
                </a:lnTo>
                <a:lnTo>
                  <a:pt x="1399980" y="455630"/>
                </a:lnTo>
                <a:lnTo>
                  <a:pt x="0" y="45563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  <a:extLst>
                <a:ext uri="{96DAC541-7B7A-43D3-8B79-37D633B846F1}">
                  <asvg:svgBlip xmlns=""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600">
        <p:blinds dir="vert"/>
      </p:transition>
    </mc:Choice>
    <mc:Fallback xmlns="">
      <p:transition spd="slow">
        <p:blinds dir="vert"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269</TotalTime>
  <Words>455</Words>
  <Application>Microsoft Office PowerPoint</Application>
  <PresentationFormat>Custom</PresentationFormat>
  <Paragraphs>61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Inter</vt:lpstr>
      <vt:lpstr>Crimson Pro Bold</vt:lpstr>
      <vt:lpstr>Arial</vt:lpstr>
      <vt:lpstr>Times New Roman</vt:lpstr>
      <vt:lpstr>Crimson Pro</vt:lpstr>
      <vt:lpstr>Merriweather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Non Text Magic Studio Magic Design for Presentations L&amp;P</dc:title>
  <dc:creator>Zaini .S</dc:creator>
  <cp:lastModifiedBy>Helloword</cp:lastModifiedBy>
  <cp:revision>15</cp:revision>
  <dcterms:created xsi:type="dcterms:W3CDTF">2006-08-16T00:00:00Z</dcterms:created>
  <dcterms:modified xsi:type="dcterms:W3CDTF">2026-05-07T11:28:17Z</dcterms:modified>
  <dc:identifier>DAHI6quy6ec</dc:identifier>
</cp:coreProperties>
</file>